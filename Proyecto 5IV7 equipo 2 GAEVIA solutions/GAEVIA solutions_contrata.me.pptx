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7.xml"/><Relationship Id="rId22" Type="http://schemas.openxmlformats.org/officeDocument/2006/relationships/font" Target="fonts/Lato-boldItalic.fntdata"/><Relationship Id="rId10" Type="http://schemas.openxmlformats.org/officeDocument/2006/relationships/slide" Target="slides/slide6.xml"/><Relationship Id="rId21" Type="http://schemas.openxmlformats.org/officeDocument/2006/relationships/font" Target="fonts/Lato-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regular.fntdata"/><Relationship Id="rId14" Type="http://schemas.openxmlformats.org/officeDocument/2006/relationships/slide" Target="slides/slide10.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slide" Target="slides/slide1.xml"/><Relationship Id="rId19" Type="http://schemas.openxmlformats.org/officeDocument/2006/relationships/font" Target="fonts/Lato-regular.fntdata"/><Relationship Id="rId6" Type="http://schemas.openxmlformats.org/officeDocument/2006/relationships/slide" Target="slides/slide2.xml"/><Relationship Id="rId18"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b38b13bb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b38b13bb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b38b13bbc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b38b13bbc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b38b13bbc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b38b13bbc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b38b13bbc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b38b13bbc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b38b13bbc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b38b13bbc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b3e07f42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b3e07f42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b3e07f42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b3e07f42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b3e07f42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b3e07f42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b3e07f42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b3e07f42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hyperlink" Target="http://csse.usc.edu"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GAEVIA solutions</a:t>
            </a:r>
            <a:endParaRPr/>
          </a:p>
          <a:p>
            <a:pPr indent="0" lvl="0" marL="0" rtl="0" algn="l">
              <a:spcBef>
                <a:spcPts val="0"/>
              </a:spcBef>
              <a:spcAft>
                <a:spcPts val="0"/>
              </a:spcAft>
              <a:buNone/>
            </a:pPr>
            <a:r>
              <a:rPr lang="es-419"/>
              <a:t>presenta: contrata.me</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Problemática </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just">
              <a:lnSpc>
                <a:spcPct val="107916"/>
              </a:lnSpc>
              <a:spcBef>
                <a:spcPts val="0"/>
              </a:spcBef>
              <a:spcAft>
                <a:spcPts val="0"/>
              </a:spcAft>
              <a:buNone/>
            </a:pPr>
            <a:r>
              <a:rPr lang="es-419" sz="1800">
                <a:solidFill>
                  <a:srgbClr val="FFFFFF"/>
                </a:solidFill>
                <a:latin typeface="Arial"/>
                <a:ea typeface="Arial"/>
                <a:cs typeface="Arial"/>
                <a:sym typeface="Arial"/>
              </a:rPr>
              <a:t>La aplicación tiene como objetivo principal ayudar a personas con oficios ya que este grupo de personas cuenta con un gran número de trabajadores, por ejemplo, según INEGI a través de la Encuesta Nacional de Ocupación y Empleo (ENE), los albañiles cuentan con el 4.8% de la población ocupada en México, así mismo el sector secundario específicamente de trabajadores de la construcción cuenta con 177,630 trabajadores. Por lo cual la aplicación tiene un gran número de personas a las cuales podría beneficiar.</a:t>
            </a:r>
            <a:endParaRPr sz="1800">
              <a:solidFill>
                <a:srgbClr val="FFFFFF"/>
              </a:solidFill>
              <a:latin typeface="Arial"/>
              <a:ea typeface="Arial"/>
              <a:cs typeface="Arial"/>
              <a:sym typeface="Arial"/>
            </a:endParaRPr>
          </a:p>
          <a:p>
            <a:pPr indent="0" lvl="0" marL="0" rtl="0" algn="l">
              <a:spcBef>
                <a:spcPts val="8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4138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rgbClr val="FFFFFF"/>
                </a:solidFill>
              </a:rPr>
              <a:t>Impactos(Ambientales)</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07916"/>
              </a:lnSpc>
              <a:spcBef>
                <a:spcPts val="0"/>
              </a:spcBef>
              <a:spcAft>
                <a:spcPts val="0"/>
              </a:spcAft>
              <a:buNone/>
            </a:pPr>
            <a:r>
              <a:rPr lang="es-419" sz="1800">
                <a:solidFill>
                  <a:srgbClr val="FFFFFF"/>
                </a:solidFill>
                <a:latin typeface="Arial"/>
                <a:ea typeface="Arial"/>
                <a:cs typeface="Arial"/>
                <a:sym typeface="Arial"/>
              </a:rPr>
              <a:t>Ciudad de México produce al día 17,009.5 toneladas de basura al día, de las cuales 113 toneladas son procedentes de la publicidad, el papel necesario para crear un anuncio pequeño es en promedio una hoja tamaño carta, la cantidad de robles necesarios para hacer una tonelada de papel es de 15 árboles, por lo que la cantidad de árboles anuales invertidos en la publicidad sería de 618,615 árboles.</a:t>
            </a:r>
            <a:endParaRPr sz="1800">
              <a:solidFill>
                <a:srgbClr val="FFFFFF"/>
              </a:solidFill>
              <a:latin typeface="Arial"/>
              <a:ea typeface="Arial"/>
              <a:cs typeface="Arial"/>
              <a:sym typeface="Arial"/>
            </a:endParaRPr>
          </a:p>
          <a:p>
            <a:pPr indent="0" lvl="0" marL="0" rtl="0" algn="l">
              <a:spcBef>
                <a:spcPts val="8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rgbClr val="FFFFFF"/>
                </a:solidFill>
              </a:rPr>
              <a:t>Impactos(Sociales)</a:t>
            </a:r>
            <a:endParaRPr>
              <a:solidFill>
                <a:srgbClr val="FFFFFF"/>
              </a:solidFill>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07916"/>
              </a:lnSpc>
              <a:spcBef>
                <a:spcPts val="0"/>
              </a:spcBef>
              <a:spcAft>
                <a:spcPts val="0"/>
              </a:spcAft>
              <a:buNone/>
            </a:pPr>
            <a:r>
              <a:rPr lang="es-419" sz="1800">
                <a:solidFill>
                  <a:srgbClr val="FFFFFF"/>
                </a:solidFill>
                <a:latin typeface="Arial"/>
                <a:ea typeface="Arial"/>
                <a:cs typeface="Arial"/>
                <a:sym typeface="Arial"/>
              </a:rPr>
              <a:t>En México existen cerca de 1,911,126 personas sin empleo, en la ciudad de México hay cerca de 133,779 personas sin empleo, alcanzando una baja potencial del 7% en el desempleo si nuestra aplicación resulta exitosa</a:t>
            </a:r>
            <a:endParaRPr sz="1800">
              <a:solidFill>
                <a:srgbClr val="FFFFFF"/>
              </a:solidFill>
              <a:latin typeface="Arial"/>
              <a:ea typeface="Arial"/>
              <a:cs typeface="Arial"/>
              <a:sym typeface="Arial"/>
            </a:endParaRPr>
          </a:p>
          <a:p>
            <a:pPr indent="0" lvl="0" marL="0" rtl="0" algn="l">
              <a:spcBef>
                <a:spcPts val="8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solidFill>
                  <a:srgbClr val="FFFFFF"/>
                </a:solidFill>
              </a:rPr>
              <a:t>Impactos(Económicas)</a:t>
            </a:r>
            <a:endParaRPr>
              <a:solidFill>
                <a:srgbClr val="FFFFFF"/>
              </a:solidFill>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07916"/>
              </a:lnSpc>
              <a:spcBef>
                <a:spcPts val="0"/>
              </a:spcBef>
              <a:spcAft>
                <a:spcPts val="0"/>
              </a:spcAft>
              <a:buNone/>
            </a:pPr>
            <a:r>
              <a:rPr lang="es-419" sz="1800">
                <a:solidFill>
                  <a:srgbClr val="FFFFFF"/>
                </a:solidFill>
                <a:latin typeface="Arial"/>
                <a:ea typeface="Arial"/>
                <a:cs typeface="Arial"/>
                <a:sym typeface="Arial"/>
              </a:rPr>
              <a:t>El año pasado el producto interno bruto por persona anual era de 8,593 dólares basados en las 133,779 personas sin empleo en la ciudad de México, nuestra aplicación tendría un alza potencial de 1,149,562,947 dólares en el PIB al año.</a:t>
            </a:r>
            <a:endParaRPr sz="1800">
              <a:solidFill>
                <a:srgbClr val="FFFFFF"/>
              </a:solidFill>
              <a:latin typeface="Arial"/>
              <a:ea typeface="Arial"/>
              <a:cs typeface="Arial"/>
              <a:sym typeface="Arial"/>
            </a:endParaRPr>
          </a:p>
          <a:p>
            <a:pPr indent="0" lvl="0" marL="0" rtl="0" algn="l">
              <a:spcBef>
                <a:spcPts val="8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8"/>
          <p:cNvPicPr preferRelativeResize="0"/>
          <p:nvPr/>
        </p:nvPicPr>
        <p:blipFill>
          <a:blip r:embed="rId3">
            <a:alphaModFix/>
          </a:blip>
          <a:stretch>
            <a:fillRect/>
          </a:stretch>
        </p:blipFill>
        <p:spPr>
          <a:xfrm>
            <a:off x="4103596" y="0"/>
            <a:ext cx="5040403" cy="5143500"/>
          </a:xfrm>
          <a:prstGeom prst="rect">
            <a:avLst/>
          </a:prstGeom>
          <a:noFill/>
          <a:ln>
            <a:noFill/>
          </a:ln>
        </p:spPr>
      </p:pic>
      <p:sp>
        <p:nvSpPr>
          <p:cNvPr id="165" name="Google Shape;165;p18"/>
          <p:cNvSpPr txBox="1"/>
          <p:nvPr/>
        </p:nvSpPr>
        <p:spPr>
          <a:xfrm>
            <a:off x="1395475" y="248475"/>
            <a:ext cx="2406000" cy="447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1800">
                <a:solidFill>
                  <a:srgbClr val="FFFFFF"/>
                </a:solidFill>
              </a:rPr>
              <a:t>COCOMO:</a:t>
            </a:r>
            <a:endParaRPr sz="1800">
              <a:solidFill>
                <a:srgbClr val="FFFFFF"/>
              </a:solidFill>
            </a:endParaRPr>
          </a:p>
          <a:p>
            <a:pPr indent="0" lvl="0" marL="0" rtl="0" algn="l">
              <a:spcBef>
                <a:spcPts val="0"/>
              </a:spcBef>
              <a:spcAft>
                <a:spcPts val="0"/>
              </a:spcAft>
              <a:buNone/>
            </a:pPr>
            <a:r>
              <a:t/>
            </a:r>
            <a:endParaRPr sz="1800">
              <a:solidFill>
                <a:srgbClr val="FFFFFF"/>
              </a:solidFill>
            </a:endParaRPr>
          </a:p>
          <a:p>
            <a:pPr indent="0" lvl="0" marL="0" rtl="0" algn="l">
              <a:spcBef>
                <a:spcPts val="0"/>
              </a:spcBef>
              <a:spcAft>
                <a:spcPts val="0"/>
              </a:spcAft>
              <a:buNone/>
            </a:pPr>
            <a:r>
              <a:rPr lang="es-419" sz="1800">
                <a:solidFill>
                  <a:srgbClr val="FFFFFF"/>
                </a:solidFill>
              </a:rPr>
              <a:t>Se </a:t>
            </a:r>
            <a:r>
              <a:rPr lang="es-419" sz="1800">
                <a:solidFill>
                  <a:srgbClr val="FFFFFF"/>
                </a:solidFill>
              </a:rPr>
              <a:t>utilizó</a:t>
            </a:r>
            <a:r>
              <a:rPr lang="es-419" sz="1800">
                <a:solidFill>
                  <a:srgbClr val="FFFFFF"/>
                </a:solidFill>
              </a:rPr>
              <a:t> cocomo II para calcular el </a:t>
            </a:r>
            <a:r>
              <a:rPr lang="es-419" sz="1800">
                <a:solidFill>
                  <a:srgbClr val="FFFFFF"/>
                </a:solidFill>
              </a:rPr>
              <a:t>esfuerzo</a:t>
            </a:r>
            <a:r>
              <a:rPr lang="es-419" sz="1800">
                <a:solidFill>
                  <a:srgbClr val="FFFFFF"/>
                </a:solidFill>
              </a:rPr>
              <a:t> y costos medios de proyecto desde </a:t>
            </a:r>
            <a:r>
              <a:rPr lang="es-419" sz="1800" u="sng">
                <a:solidFill>
                  <a:srgbClr val="FFFFFF"/>
                </a:solidFill>
                <a:hlinkClick r:id="rId4">
                  <a:extLst>
                    <a:ext uri="{A12FA001-AC4F-418D-AE19-62706E023703}">
                      <ahyp:hlinkClr val="tx"/>
                    </a:ext>
                  </a:extLst>
                </a:hlinkClick>
              </a:rPr>
              <a:t>http://csse.usc.edu</a:t>
            </a:r>
            <a:endParaRPr sz="1800">
              <a:solidFill>
                <a:srgbClr val="FFFFFF"/>
              </a:solidFill>
            </a:endParaRPr>
          </a:p>
          <a:p>
            <a:pPr indent="0" lvl="0" marL="0" rtl="0" algn="l">
              <a:spcBef>
                <a:spcPts val="0"/>
              </a:spcBef>
              <a:spcAft>
                <a:spcPts val="0"/>
              </a:spcAft>
              <a:buNone/>
            </a:pPr>
            <a:r>
              <a:rPr lang="es-419" sz="1800">
                <a:solidFill>
                  <a:srgbClr val="FFFFFF"/>
                </a:solidFill>
              </a:rPr>
              <a:t>ahí</a:t>
            </a:r>
            <a:r>
              <a:rPr lang="es-419" sz="1800">
                <a:solidFill>
                  <a:srgbClr val="FFFFFF"/>
                </a:solidFill>
              </a:rPr>
              <a:t> se recabo la </a:t>
            </a:r>
            <a:r>
              <a:rPr lang="es-419" sz="1800">
                <a:solidFill>
                  <a:srgbClr val="FFFFFF"/>
                </a:solidFill>
              </a:rPr>
              <a:t>información</a:t>
            </a:r>
            <a:r>
              <a:rPr lang="es-419" sz="1800">
                <a:solidFill>
                  <a:srgbClr val="FFFFFF"/>
                </a:solidFill>
              </a:rPr>
              <a:t> </a:t>
            </a:r>
            <a:r>
              <a:rPr lang="es-419" sz="1800">
                <a:solidFill>
                  <a:srgbClr val="FFFFFF"/>
                </a:solidFill>
              </a:rPr>
              <a:t>necesaria</a:t>
            </a:r>
            <a:r>
              <a:rPr lang="es-419" sz="1800">
                <a:solidFill>
                  <a:srgbClr val="FFFFFF"/>
                </a:solidFill>
              </a:rPr>
              <a:t> para deducir que aproximadamente el proyecto </a:t>
            </a:r>
            <a:r>
              <a:rPr lang="es-419" sz="1800">
                <a:solidFill>
                  <a:srgbClr val="FFFFFF"/>
                </a:solidFill>
              </a:rPr>
              <a:t>tardará</a:t>
            </a:r>
            <a:r>
              <a:rPr lang="es-419" sz="1800">
                <a:solidFill>
                  <a:srgbClr val="FFFFFF"/>
                </a:solidFill>
              </a:rPr>
              <a:t> 15 meses, y </a:t>
            </a:r>
            <a:r>
              <a:rPr lang="es-419" sz="1800">
                <a:solidFill>
                  <a:srgbClr val="FFFFFF"/>
                </a:solidFill>
              </a:rPr>
              <a:t>tendrá</a:t>
            </a:r>
            <a:r>
              <a:rPr lang="es-419" sz="1800">
                <a:solidFill>
                  <a:srgbClr val="FFFFFF"/>
                </a:solidFill>
              </a:rPr>
              <a:t> un costo aproximado de 11.930 </a:t>
            </a:r>
            <a:r>
              <a:rPr lang="es-419" sz="1800">
                <a:solidFill>
                  <a:srgbClr val="FFFFFF"/>
                </a:solidFill>
              </a:rPr>
              <a:t>dólares</a:t>
            </a:r>
            <a:endParaRPr sz="1800">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9"/>
          <p:cNvPicPr preferRelativeResize="0"/>
          <p:nvPr/>
        </p:nvPicPr>
        <p:blipFill>
          <a:blip r:embed="rId3">
            <a:alphaModFix/>
          </a:blip>
          <a:stretch>
            <a:fillRect/>
          </a:stretch>
        </p:blipFill>
        <p:spPr>
          <a:xfrm>
            <a:off x="2066925" y="0"/>
            <a:ext cx="70770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0"/>
          <p:cNvPicPr preferRelativeResize="0"/>
          <p:nvPr/>
        </p:nvPicPr>
        <p:blipFill>
          <a:blip r:embed="rId3">
            <a:alphaModFix/>
          </a:blip>
          <a:stretch>
            <a:fillRect/>
          </a:stretch>
        </p:blipFill>
        <p:spPr>
          <a:xfrm>
            <a:off x="2200350" y="0"/>
            <a:ext cx="694365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1"/>
          <p:cNvPicPr preferRelativeResize="0"/>
          <p:nvPr/>
        </p:nvPicPr>
        <p:blipFill>
          <a:blip r:embed="rId3">
            <a:alphaModFix/>
          </a:blip>
          <a:stretch>
            <a:fillRect/>
          </a:stretch>
        </p:blipFill>
        <p:spPr>
          <a:xfrm>
            <a:off x="1942000" y="0"/>
            <a:ext cx="7202000"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2"/>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